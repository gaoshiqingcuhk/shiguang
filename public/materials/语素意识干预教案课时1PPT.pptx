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5"/>
  </p:notesMasterIdLst>
  <p:sldIdLst>
    <p:sldId id="256" r:id="rId3"/>
    <p:sldId id="295" r:id="rId4"/>
    <p:sldId id="258" r:id="rId5"/>
    <p:sldId id="259" r:id="rId6"/>
    <p:sldId id="278" r:id="rId7"/>
    <p:sldId id="280" r:id="rId8"/>
    <p:sldId id="260" r:id="rId9"/>
    <p:sldId id="282" r:id="rId10"/>
    <p:sldId id="283" r:id="rId11"/>
    <p:sldId id="284" r:id="rId12"/>
    <p:sldId id="262" r:id="rId13"/>
    <p:sldId id="285" r:id="rId14"/>
    <p:sldId id="286" r:id="rId15"/>
    <p:sldId id="287" r:id="rId16"/>
    <p:sldId id="267" r:id="rId17"/>
    <p:sldId id="270" r:id="rId18"/>
    <p:sldId id="292" r:id="rId19"/>
    <p:sldId id="293" r:id="rId20"/>
    <p:sldId id="274" r:id="rId21"/>
    <p:sldId id="275" r:id="rId22"/>
    <p:sldId id="294" r:id="rId23"/>
    <p:sldId id="281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5E9"/>
    <a:srgbClr val="BF9000"/>
    <a:srgbClr val="548235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6" autoAdjust="0"/>
    <p:restoredTop sz="89465" autoAdjust="0"/>
  </p:normalViewPr>
  <p:slideViewPr>
    <p:cSldViewPr snapToGrid="0">
      <p:cViewPr varScale="1">
        <p:scale>
          <a:sx n="95" d="100"/>
          <a:sy n="95" d="100"/>
        </p:scale>
        <p:origin x="832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在一个句子里，最重要的就是‘谁’或者‘什么’。我们把这个‘谁’或‘什么’叫做‘主语’。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它就像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句子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里的主角，所有的故事都围绕它展开。比如，‘小猫在吃鱼’，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谁在吃？是小猫！所以‘小猫’就是主语，是这个句子的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主角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好，我们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看看这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几句话，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找出每个句子里的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主语，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哪位小朋友愿意来试试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？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70969-0AEF-2D27-6BF2-561D881F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F73CFD-D595-D677-49C3-CBE878A6DA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ABCB60-4111-1B6C-B6DE-E93890BC9A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FDCDA86-DD23-FF32-E2EF-42867C7C1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7E4AE64-841C-F334-2467-3BA5CF467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好，我们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看看这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几句话，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找出每个句子里的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主语，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哪位小朋友愿意来试试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？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A5FA9-34DB-DBAF-5CEB-91858B136C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EB88F-2427-0523-781F-02932FDDF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60240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6CB5-84B7-E6C1-8F2E-CCADDD30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E28175-2BF8-2420-66A7-7B2E0E9C94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144D3-5B28-F30D-CE08-7A46C54E5BE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7CC4EFE-4278-CA0E-B326-31B6154A6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E56E71F-FAFC-478D-5465-9BDC9BE4C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好，我们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看看这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几句话，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找出每个句子里的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主语，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哪位小朋友愿意来试试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？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88F0E-8809-6F6C-8AC0-50A00B0E66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AA765-77AE-610E-544B-E9787962B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05878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我们知道了‘谁’之后，就要看它‘做什么’了。表示‘做什么’或者‘怎么样’的词，就叫做‘谓语’。比如，‘小猫在吃鱼’，小猫在做什么？在‘吃’！所以‘吃’就是谓语。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44A6C-C377-5B32-EF5B-841DD8BC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7E9E277-104B-BE22-AE89-BDF9B3EB77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CF96C-AC28-9503-6342-1496B10FDF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4DC570A-6617-AF1E-5F09-7949487DD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346CABA-EE2C-D61A-ED86-27226D38F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B85E0-9A84-E5EE-DB58-F4C02CC506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96D8C-1DE1-93AA-8B83-FDF307E5E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50187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279C4-551E-2F82-4342-018F9421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BA2903-16CD-A6F2-22AB-FEECD99718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FCCAC-7410-FCEC-EFF2-14F372A2B6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3742F0B-CCE3-35ED-386B-D0679A608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6CE793D-4412-C485-24CD-8363B12D8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9D2DA-0E49-54BE-ED01-DFF212380E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EB741-7127-D3FF-D2C6-62B0F5289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89453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F48C-9F22-B0D6-76BF-54172C48C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1A04BA-5DBF-EC52-3CC1-CF3AEF3BA6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59C13-2A0E-E8CF-AB0F-C3EA47AD90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1F12604-372C-739C-8C0E-CC2060B02B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C6CDB2D-613D-F5A4-35FA-C1D4038A7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好，我们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看看这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几句话，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找出每个句子里的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谓语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69CF7-6093-A3C9-19BA-7F52C6E68B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EEAF0-D872-78C3-B6FA-9F150DEC8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30472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有些时候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一个句子里会有一个主语动作的承受者，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这个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成分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就叫做‘宾语’。它回答了‘做什么’或者‘对谁做’的问题。比如，‘小猫在吃鱼’，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小猫在吃什么？在吃鱼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。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所以鱼就是宾语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8307D-D034-50FB-012D-E9383B60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F23619-2BD6-B6F7-90EB-2574A71AC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547F3-7B48-4DAE-EFFD-8F7DDECD799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6B6CEAD-07E8-E5A0-BB2D-14CC8D65A9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9A4E459-05ED-0E3A-B4D0-E76D5BD0F4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18FD9-AAB3-4D91-4C7A-28E82C3BE3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B79C8-480A-A351-E80D-47EBA09EE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55569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9C3C2-AAA1-5F5C-00E8-F6EE25541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32F1E7-6BDB-B59E-E6C3-90F32A76B9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3D9F9D-C79B-346F-6D61-C118ADEE8C8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BFA7E42-8AB6-2CED-3A7F-15B8D0483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0855113-97CE-EF66-BCCF-4220D4A1F8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07C4C-999B-6C6A-072F-E265193476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8F57F-1281-8292-13E5-973DC3D4C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25900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8611-6F68-A9F4-2716-2D6FC356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1E32D5-1C41-A8A5-E842-124AE25037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1424F-9ED2-DF5D-5831-1CEFD762A15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843BD3-97B1-6B5C-F9D5-04F3BA7A4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5F38628-FA76-5127-BBBB-C8A037F16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好，我们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看看这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几句话，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找出每个句子里的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谓语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C9767-F5CC-E57A-8F40-E4EB7D065A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0C6EB-6516-028F-8061-434C43948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75294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知识学习结束，现在是激动人心的游戏时间！我们将分成三个小组进行比赛，看看哪个小组是今天的‘语言小能手’！现在，请大家分成三组，为自己的队伍起个名字吧！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火车继续开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！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我们请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第一组同学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先开始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CC9B-4B36-FEC4-E5CD-583B9D4F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90062B1-0DD2-0CB2-CD5A-BF0E508AB2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FB104-43BB-8EE4-32ED-56BD35936E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B13DEBC-AD17-69E0-3434-8F4D262CA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93EC8D4-6B0A-DEF2-40D8-D82F6073F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火车继续开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！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这次轮到第二组的同学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！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658F3-9011-E24B-DA69-1CB7EB483E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49E86-5940-40F0-A715-0475646D4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17225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8CF75-6F86-C9EE-DAB0-DD8D6D77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AF023E-24C8-18FA-E9B6-EAB890268C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E33D5-8070-4FB0-B2A6-B0D07594EB2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14B1558-68A9-7412-4DB3-5EB3BE8A1A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D4DD88-1EEA-CCED-B168-7346E7541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火车继续开！这次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轮到第三组的同学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！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E9F03-ED25-22C7-990B-8EF4751D5B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3C31B-68FA-D598-EE11-E602B516D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47235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请看大屏幕！句子是‘妈妈织毛衣’。第一个问题：请问，句子里的‘小超人’是谁？开始抢答！（学生抢答后，点击出现问题2）第二个问题：请问，句子里的‘能量棒’是什么？开始抢答！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加油！下一个句子是‘弟弟搭积木’。第一个问题：请问，句子的主语是什么？开始抢答！（学生抢答后，点击出现问题2）第二个问题：请问，句子的宾语是什么？开始抢答！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EB6F-1557-D538-8FEA-BC9102A93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607E62-C594-E860-6405-16143B6A6A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552CB-A417-6D01-7DDF-60C7911668A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A7A882A-0054-4F77-DF95-237C9D933A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3F60C0-A15E-95B7-E146-72EFF76C1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加油！下一个句子是‘弟弟搭积木’。第一个问题：请问，句子的主语是什么？开始抢答！（学生抢答后，点击出现问题2）第二个问题：请问，句子的宾语是什么？开始抢答！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97EF3-C86C-BD99-4C4C-EFEBC87120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6C0E3-D550-8F01-578D-87C3FAE7B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749349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4B3D-78A2-649C-9FD5-3A935DAA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DBE79E-9BFB-225D-38E1-1FDB3134DF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8D966-2E01-8906-F46D-1CA11720B6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2F8E88-6964-0350-FCC1-888459701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695B791-B512-269E-B66B-5A8613466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今天的课就到这里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希望经过这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40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分钟的学习，同学们可以对句子的主语谓语宾语有更加清晰的认识！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B21D5-C1FC-B19E-3B09-E617184A3A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5C9FD-D685-134F-D93B-9F787CE9C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3035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第一课 主语 谓语 宾语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FFF9C4"/>
                </a:solidFill>
                <a:latin typeface="Noto Sans SC"/>
                <a:ea typeface="Noto Sans SC"/>
                <a:cs typeface="Noto Sans SC"/>
                <a:sym typeface="Noto Sans SC"/>
              </a:rPr>
              <a:t>高诗轻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ildren playing football">
            <a:extLst>
              <a:ext uri="{FF2B5EF4-FFF2-40B4-BE49-F238E27FC236}">
                <a16:creationId xmlns:a16="http://schemas.microsoft.com/office/drawing/2014/main" id="{A165972D-E5EE-1B68-8D05-440900C14E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57" t="19630" r="42963" b="7408"/>
          <a:stretch>
            <a:fillRect/>
          </a:stretch>
        </p:blipFill>
        <p:spPr>
          <a:xfrm>
            <a:off x="762000" y="1308100"/>
            <a:ext cx="3454400" cy="5003800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4CFA6133-F7F3-BBBF-B85C-D1F9EB5E9BE8}"/>
              </a:ext>
            </a:extLst>
          </p:cNvPr>
          <p:cNvSpPr/>
          <p:nvPr/>
        </p:nvSpPr>
        <p:spPr>
          <a:xfrm>
            <a:off x="762000" y="2032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B0F0"/>
                </a:solidFill>
                <a:latin typeface="Noto Sans SC"/>
                <a:ea typeface="Noto Sans SC"/>
                <a:cs typeface="Noto Sans SC"/>
                <a:sym typeface="Noto Sans SC"/>
              </a:rPr>
              <a:t>看一看，说一说 </a:t>
            </a: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谁在做什么？</a:t>
            </a:r>
            <a:endParaRPr lang="en-US" sz="1100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F52D1B9D-3DDB-5C77-6D67-E8AA380D46B7}"/>
              </a:ext>
            </a:extLst>
          </p:cNvPr>
          <p:cNvSpPr/>
          <p:nvPr/>
        </p:nvSpPr>
        <p:spPr>
          <a:xfrm>
            <a:off x="5067300" y="1657350"/>
            <a:ext cx="6858000" cy="430530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5D8D5-0265-987B-B5D8-F708ECC2776F}"/>
              </a:ext>
            </a:extLst>
          </p:cNvPr>
          <p:cNvSpPr txBox="1"/>
          <p:nvPr/>
        </p:nvSpPr>
        <p:spPr>
          <a:xfrm>
            <a:off x="5067300" y="2070100"/>
            <a:ext cx="6858000" cy="1414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2060"/>
                </a:solidFill>
                <a:latin typeface="Noto Sans SC"/>
                <a:ea typeface="Noto Sans SC"/>
              </a:rPr>
              <a:t>图片里的是什么人，她在做什么呢？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2ACFF-0A24-614C-BFBD-E0D6B897DE78}"/>
              </a:ext>
            </a:extLst>
          </p:cNvPr>
          <p:cNvSpPr txBox="1"/>
          <p:nvPr/>
        </p:nvSpPr>
        <p:spPr>
          <a:xfrm>
            <a:off x="5054600" y="3416300"/>
            <a:ext cx="6858000" cy="931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800" b="1" dirty="0">
                <a:solidFill>
                  <a:schemeClr val="accent2"/>
                </a:solidFill>
                <a:latin typeface="Noto Sans SC"/>
                <a:ea typeface="Noto Sans SC"/>
              </a:rPr>
              <a:t>女同学</a:t>
            </a:r>
            <a:endParaRPr lang="zh-CN" altLang="en-US" sz="4800" b="1" dirty="0">
              <a:solidFill>
                <a:schemeClr val="accent5"/>
              </a:solidFill>
              <a:latin typeface="Noto Sans SC"/>
              <a:ea typeface="Noto Sans S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007E9-F5B9-5256-18E7-20A3285A6748}"/>
              </a:ext>
            </a:extLst>
          </p:cNvPr>
          <p:cNvSpPr txBox="1"/>
          <p:nvPr/>
        </p:nvSpPr>
        <p:spPr>
          <a:xfrm>
            <a:off x="5080000" y="4229100"/>
            <a:ext cx="6858000" cy="931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800" b="1" dirty="0">
                <a:solidFill>
                  <a:srgbClr val="7030A0"/>
                </a:solidFill>
                <a:latin typeface="Noto Sans SC"/>
                <a:ea typeface="Noto Sans SC"/>
              </a:rPr>
              <a:t>踢</a:t>
            </a:r>
            <a:endParaRPr lang="zh-CN" altLang="en-US" sz="4800" b="1" dirty="0">
              <a:solidFill>
                <a:schemeClr val="accent5"/>
              </a:solidFill>
              <a:latin typeface="Noto Sans SC"/>
              <a:ea typeface="Noto Sans S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9A3DB0-885D-5B37-406C-B19665CCA745}"/>
              </a:ext>
            </a:extLst>
          </p:cNvPr>
          <p:cNvSpPr txBox="1"/>
          <p:nvPr/>
        </p:nvSpPr>
        <p:spPr>
          <a:xfrm>
            <a:off x="5067300" y="5130800"/>
            <a:ext cx="6858000" cy="931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800" b="1" dirty="0">
                <a:solidFill>
                  <a:schemeClr val="accent5"/>
                </a:solidFill>
                <a:latin typeface="Noto Sans SC"/>
                <a:ea typeface="Noto Sans SC"/>
              </a:rPr>
              <a:t>足球</a:t>
            </a:r>
          </a:p>
        </p:txBody>
      </p:sp>
    </p:spTree>
    <p:extLst>
      <p:ext uri="{BB962C8B-B14F-4D97-AF65-F5344CB8AC3E}">
        <p14:creationId xmlns:p14="http://schemas.microsoft.com/office/powerpoint/2010/main" val="370039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句子的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主角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主语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4191000" y="2413000"/>
            <a:ext cx="2921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4DB6AC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318000" y="27305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200" b="1" i="0" u="none" strike="noStrike">
                <a:solidFill>
                  <a:srgbClr val="FF7043"/>
                </a:solidFill>
                <a:latin typeface="Noto Sans SC"/>
                <a:ea typeface="Noto Sans SC"/>
                <a:cs typeface="Noto Sans SC"/>
                <a:sym typeface="Noto Sans SC"/>
              </a:rPr>
              <a:t>我是主语，</a:t>
            </a:r>
            <a:endParaRPr lang="en-US" sz="1100"/>
          </a:p>
          <a:p>
            <a:pPr indent="0" algn="ctr">
              <a:lnSpc>
                <a:spcPct val="108333"/>
              </a:lnSpc>
            </a:pPr>
            <a:r>
              <a:rPr lang="en-US" sz="2200" b="1" i="0" u="none" strike="noStrike">
                <a:solidFill>
                  <a:srgbClr val="4DB6AC"/>
                </a:solidFill>
                <a:latin typeface="Noto Sans SC"/>
                <a:ea typeface="Noto Sans SC"/>
                <a:cs typeface="Noto Sans SC"/>
                <a:sym typeface="Noto Sans SC"/>
              </a:rPr>
              <a:t>是句子的主角！</a:t>
            </a:r>
          </a:p>
        </p:txBody>
      </p:sp>
      <p:sp>
        <p:nvSpPr>
          <p:cNvPr id="6" name="AutoShape 6"/>
          <p:cNvSpPr/>
          <p:nvPr/>
        </p:nvSpPr>
        <p:spPr>
          <a:xfrm>
            <a:off x="7493000" y="1778000"/>
            <a:ext cx="393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747000" y="1968500"/>
            <a:ext cx="1016000" cy="1016000"/>
          </a:xfrm>
          <a:prstGeom prst="ellipse">
            <a:avLst/>
          </a:prstGeom>
          <a:solidFill>
            <a:srgbClr val="4DB6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747000" y="2159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小猫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017000" y="2032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在吃鱼。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493000" y="3429000"/>
            <a:ext cx="393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747000" y="3619500"/>
            <a:ext cx="1016000" cy="1016000"/>
          </a:xfrm>
          <a:prstGeom prst="ellipse">
            <a:avLst/>
          </a:prstGeom>
          <a:solidFill>
            <a:srgbClr val="4DB6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747000" y="3810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爸爸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017000" y="3683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正在看报纸。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493000" y="5080000"/>
            <a:ext cx="393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747000" y="5270500"/>
            <a:ext cx="1016000" cy="1016000"/>
          </a:xfrm>
          <a:prstGeom prst="ellipse">
            <a:avLst/>
          </a:prstGeom>
          <a:solidFill>
            <a:srgbClr val="4DB6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747000" y="5461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花儿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017000" y="5334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开了。</a:t>
            </a:r>
            <a:endParaRPr lang="en-US" sz="1100"/>
          </a:p>
        </p:txBody>
      </p:sp>
      <p:pic>
        <p:nvPicPr>
          <p:cNvPr id="19" name="Picture 18" descr="Pink Ranunculus flowers with green centers at various stages of openness">
            <a:extLst>
              <a:ext uri="{FF2B5EF4-FFF2-40B4-BE49-F238E27FC236}">
                <a16:creationId xmlns:a16="http://schemas.microsoft.com/office/drawing/2014/main" id="{A3DDF255-E7CF-A1C0-703C-4DBA72D94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1996016"/>
            <a:ext cx="4108450" cy="27389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</a:t>
            </a: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主语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35000" y="19050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228969" y="23749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228969" y="23749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我吃苹果</a:t>
            </a:r>
            <a:endParaRPr lang="en-US" sz="1200" dirty="0"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419EA551-0663-9CB4-DB72-7A940EB7F926}"/>
              </a:ext>
            </a:extLst>
          </p:cNvPr>
          <p:cNvSpPr/>
          <p:nvPr/>
        </p:nvSpPr>
        <p:spPr>
          <a:xfrm>
            <a:off x="1203569" y="36131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DEFF67AC-E01F-8572-BF1D-ABB31609BE84}"/>
              </a:ext>
            </a:extLst>
          </p:cNvPr>
          <p:cNvSpPr/>
          <p:nvPr/>
        </p:nvSpPr>
        <p:spPr>
          <a:xfrm>
            <a:off x="1228969" y="48514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FA052032-CAEB-CA9F-25D0-3B23DC0B5893}"/>
              </a:ext>
            </a:extLst>
          </p:cNvPr>
          <p:cNvSpPr/>
          <p:nvPr/>
        </p:nvSpPr>
        <p:spPr>
          <a:xfrm>
            <a:off x="1228969" y="36068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你拍皮球</a:t>
            </a:r>
            <a:endParaRPr lang="en-US" sz="1200" dirty="0"/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30885B81-0530-127B-0C32-25C9C42F4CED}"/>
              </a:ext>
            </a:extLst>
          </p:cNvPr>
          <p:cNvSpPr/>
          <p:nvPr/>
        </p:nvSpPr>
        <p:spPr>
          <a:xfrm>
            <a:off x="1254369" y="4838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妈妈洗衣服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0A4E26-B0FD-FD5F-26F3-187B7C406666}"/>
              </a:ext>
            </a:extLst>
          </p:cNvPr>
          <p:cNvSpPr/>
          <p:nvPr/>
        </p:nvSpPr>
        <p:spPr>
          <a:xfrm>
            <a:off x="4889500" y="2578100"/>
            <a:ext cx="723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DDC04E7-66D1-D1A0-27FA-2601C26B767E}"/>
              </a:ext>
            </a:extLst>
          </p:cNvPr>
          <p:cNvSpPr/>
          <p:nvPr/>
        </p:nvSpPr>
        <p:spPr>
          <a:xfrm>
            <a:off x="4927600" y="3810000"/>
            <a:ext cx="723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5E2E36-C30E-9FBF-910C-871F75338BCE}"/>
              </a:ext>
            </a:extLst>
          </p:cNvPr>
          <p:cNvSpPr/>
          <p:nvPr/>
        </p:nvSpPr>
        <p:spPr>
          <a:xfrm>
            <a:off x="4686300" y="5029200"/>
            <a:ext cx="12065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58AB0-A34D-A29A-F536-3BC61DC2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076A285-C5D1-8C28-2177-BE0B02C40BDD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</a:t>
            </a: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主语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B3F2E27B-E06C-E604-31AD-7D8258D0D8B4}"/>
              </a:ext>
            </a:extLst>
          </p:cNvPr>
          <p:cNvSpPr/>
          <p:nvPr/>
        </p:nvSpPr>
        <p:spPr>
          <a:xfrm>
            <a:off x="635000" y="19050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E5FAF5AB-7474-1F0E-AD34-CB24C98604F9}"/>
              </a:ext>
            </a:extLst>
          </p:cNvPr>
          <p:cNvSpPr/>
          <p:nvPr/>
        </p:nvSpPr>
        <p:spPr>
          <a:xfrm>
            <a:off x="1228969" y="23749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6ED41A09-CB8D-D0DD-312C-FD2B1D3E1C51}"/>
              </a:ext>
            </a:extLst>
          </p:cNvPr>
          <p:cNvSpPr/>
          <p:nvPr/>
        </p:nvSpPr>
        <p:spPr>
          <a:xfrm>
            <a:off x="1228969" y="23749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我们打扫教室</a:t>
            </a:r>
            <a:endParaRPr lang="en-US" sz="1200" dirty="0"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3AA3CE66-5738-A105-EC13-386734897F9B}"/>
              </a:ext>
            </a:extLst>
          </p:cNvPr>
          <p:cNvSpPr/>
          <p:nvPr/>
        </p:nvSpPr>
        <p:spPr>
          <a:xfrm>
            <a:off x="1203569" y="36131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7326E0AD-6CE7-F7B6-3324-E8529E2D114F}"/>
              </a:ext>
            </a:extLst>
          </p:cNvPr>
          <p:cNvSpPr/>
          <p:nvPr/>
        </p:nvSpPr>
        <p:spPr>
          <a:xfrm>
            <a:off x="1228969" y="48514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A47E0647-BF4B-43ED-BADC-4D58FF6BECF8}"/>
              </a:ext>
            </a:extLst>
          </p:cNvPr>
          <p:cNvSpPr/>
          <p:nvPr/>
        </p:nvSpPr>
        <p:spPr>
          <a:xfrm>
            <a:off x="1228969" y="36068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蜜蜂采集花蜜</a:t>
            </a:r>
            <a:endParaRPr lang="en-US" sz="1200" dirty="0"/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37BCCF14-7DAE-E2AF-0352-C816E77888E0}"/>
              </a:ext>
            </a:extLst>
          </p:cNvPr>
          <p:cNvSpPr/>
          <p:nvPr/>
        </p:nvSpPr>
        <p:spPr>
          <a:xfrm>
            <a:off x="1254369" y="4838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厨师制作饭菜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B0F33A-8DB4-68A5-18FD-7B3C9F4737D6}"/>
              </a:ext>
            </a:extLst>
          </p:cNvPr>
          <p:cNvSpPr/>
          <p:nvPr/>
        </p:nvSpPr>
        <p:spPr>
          <a:xfrm>
            <a:off x="4381500" y="25781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93DF125-5648-0440-1218-EC3ECEF65937}"/>
              </a:ext>
            </a:extLst>
          </p:cNvPr>
          <p:cNvSpPr/>
          <p:nvPr/>
        </p:nvSpPr>
        <p:spPr>
          <a:xfrm>
            <a:off x="4381500" y="3810000"/>
            <a:ext cx="12700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D7FB00-EC51-556C-B61D-EE0D3B276F59}"/>
              </a:ext>
            </a:extLst>
          </p:cNvPr>
          <p:cNvSpPr/>
          <p:nvPr/>
        </p:nvSpPr>
        <p:spPr>
          <a:xfrm>
            <a:off x="4432300" y="5029200"/>
            <a:ext cx="12065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24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4FCB2-678F-3E9E-5A5F-11ABDBA9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908A128-DE54-1D46-91FF-529297B7E941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</a:t>
            </a: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主语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00D6D23B-10E8-A2FE-7820-5E288E0A7275}"/>
              </a:ext>
            </a:extLst>
          </p:cNvPr>
          <p:cNvSpPr/>
          <p:nvPr/>
        </p:nvSpPr>
        <p:spPr>
          <a:xfrm>
            <a:off x="635000" y="19050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F84EC102-C75D-CE5A-98D6-C80C0F178C0C}"/>
              </a:ext>
            </a:extLst>
          </p:cNvPr>
          <p:cNvSpPr/>
          <p:nvPr/>
        </p:nvSpPr>
        <p:spPr>
          <a:xfrm>
            <a:off x="1228969" y="23749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F7EB5CB7-BD3D-FDBD-EACA-D5790B897DF1}"/>
              </a:ext>
            </a:extLst>
          </p:cNvPr>
          <p:cNvSpPr/>
          <p:nvPr/>
        </p:nvSpPr>
        <p:spPr>
          <a:xfrm>
            <a:off x="1228969" y="23749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野花散发清香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B4006A62-0BAE-C617-6C68-31B8F5689D3B}"/>
              </a:ext>
            </a:extLst>
          </p:cNvPr>
          <p:cNvSpPr/>
          <p:nvPr/>
        </p:nvSpPr>
        <p:spPr>
          <a:xfrm>
            <a:off x="1203569" y="36131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213594BF-0B4F-A950-496C-37E9DF4616E9}"/>
              </a:ext>
            </a:extLst>
          </p:cNvPr>
          <p:cNvSpPr/>
          <p:nvPr/>
        </p:nvSpPr>
        <p:spPr>
          <a:xfrm>
            <a:off x="1228969" y="48514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94E1D2CE-F899-0A9E-2317-52E9D7E0439D}"/>
              </a:ext>
            </a:extLst>
          </p:cNvPr>
          <p:cNvSpPr/>
          <p:nvPr/>
        </p:nvSpPr>
        <p:spPr>
          <a:xfrm>
            <a:off x="1228969" y="36068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露珠滋润花叶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CA474C52-5528-5F98-4B75-D7F0BB06BA79}"/>
              </a:ext>
            </a:extLst>
          </p:cNvPr>
          <p:cNvSpPr/>
          <p:nvPr/>
        </p:nvSpPr>
        <p:spPr>
          <a:xfrm>
            <a:off x="1254369" y="4838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水壶烧开清水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532170-4DEC-EBBB-A1C9-8F4A36A2115B}"/>
              </a:ext>
            </a:extLst>
          </p:cNvPr>
          <p:cNvSpPr/>
          <p:nvPr/>
        </p:nvSpPr>
        <p:spPr>
          <a:xfrm>
            <a:off x="4381500" y="25781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169AB36-0148-DD8A-DEC5-822C16894962}"/>
              </a:ext>
            </a:extLst>
          </p:cNvPr>
          <p:cNvSpPr/>
          <p:nvPr/>
        </p:nvSpPr>
        <p:spPr>
          <a:xfrm>
            <a:off x="4381500" y="3810000"/>
            <a:ext cx="12700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57383FC-F1EB-5A02-D618-6F32EF83B80E}"/>
              </a:ext>
            </a:extLst>
          </p:cNvPr>
          <p:cNvSpPr/>
          <p:nvPr/>
        </p:nvSpPr>
        <p:spPr>
          <a:xfrm>
            <a:off x="4432300" y="5029200"/>
            <a:ext cx="12065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71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句子的</a:t>
            </a: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动作</a:t>
            </a: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谓语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5080000"/>
            <a:ext cx="2794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5270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“我是谓语，</a:t>
            </a:r>
            <a:br>
              <a:rPr lang="en-US" sz="18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是表示动作的词！”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2000" y="1905000"/>
            <a:ext cx="6858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953000" y="2222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小猫在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0" y="2095500"/>
            <a:ext cx="1016000" cy="1016000"/>
          </a:xfrm>
          <a:prstGeom prst="ellipse">
            <a:avLst/>
          </a:prstGeom>
          <a:solidFill>
            <a:srgbClr val="FF8A6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112000" y="2311400"/>
            <a:ext cx="101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0" y="2222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鱼。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556000"/>
            <a:ext cx="6858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953000" y="3873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爸爸正在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12000" y="3746500"/>
            <a:ext cx="1016000" cy="1016000"/>
          </a:xfrm>
          <a:prstGeom prst="ellipse">
            <a:avLst/>
          </a:prstGeom>
          <a:solidFill>
            <a:srgbClr val="FF8A6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112000" y="3962400"/>
            <a:ext cx="101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873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报纸。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5207000"/>
            <a:ext cx="6858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953000" y="5524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花儿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5397500"/>
            <a:ext cx="1016000" cy="1016000"/>
          </a:xfrm>
          <a:prstGeom prst="ellipse">
            <a:avLst/>
          </a:prstGeom>
          <a:solidFill>
            <a:srgbClr val="FF8A6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112000" y="5613400"/>
            <a:ext cx="101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5524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了。</a:t>
            </a:r>
            <a:endParaRPr lang="en-US" sz="1100"/>
          </a:p>
        </p:txBody>
      </p:sp>
      <p:pic>
        <p:nvPicPr>
          <p:cNvPr id="22" name="Picture 21" descr="Batting a baseball">
            <a:extLst>
              <a:ext uri="{FF2B5EF4-FFF2-40B4-BE49-F238E27FC236}">
                <a16:creationId xmlns:a16="http://schemas.microsoft.com/office/drawing/2014/main" id="{57728093-B890-E91C-CC90-45D63A4DA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6" y="1841500"/>
            <a:ext cx="4204344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AF90C-BEBE-857F-3C52-63E8E8E0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C678B83-4F09-7E26-AD11-76759F9A4379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谓语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BF376E3E-BFB0-ED58-0359-91CD034AD6F6}"/>
              </a:ext>
            </a:extLst>
          </p:cNvPr>
          <p:cNvSpPr/>
          <p:nvPr/>
        </p:nvSpPr>
        <p:spPr>
          <a:xfrm>
            <a:off x="635000" y="19050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85266C79-7B27-0CF8-E4F6-74AB3DFA99F8}"/>
              </a:ext>
            </a:extLst>
          </p:cNvPr>
          <p:cNvSpPr/>
          <p:nvPr/>
        </p:nvSpPr>
        <p:spPr>
          <a:xfrm>
            <a:off x="1228969" y="23749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B6A4A035-59D7-538E-9841-3A9A5A50067C}"/>
              </a:ext>
            </a:extLst>
          </p:cNvPr>
          <p:cNvSpPr/>
          <p:nvPr/>
        </p:nvSpPr>
        <p:spPr>
          <a:xfrm>
            <a:off x="1228969" y="23749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我吃苹果</a:t>
            </a:r>
            <a:endParaRPr lang="en-US" sz="1200" dirty="0"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B1F3A128-B2C3-F0DC-912B-89E9A32A092F}"/>
              </a:ext>
            </a:extLst>
          </p:cNvPr>
          <p:cNvSpPr/>
          <p:nvPr/>
        </p:nvSpPr>
        <p:spPr>
          <a:xfrm>
            <a:off x="1203569" y="36131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45101CBD-B914-7FF8-7F69-B1490287FF3C}"/>
              </a:ext>
            </a:extLst>
          </p:cNvPr>
          <p:cNvSpPr/>
          <p:nvPr/>
        </p:nvSpPr>
        <p:spPr>
          <a:xfrm>
            <a:off x="1228969" y="48514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66CE7A97-E705-D46C-B72A-4F9107AD761F}"/>
              </a:ext>
            </a:extLst>
          </p:cNvPr>
          <p:cNvSpPr/>
          <p:nvPr/>
        </p:nvSpPr>
        <p:spPr>
          <a:xfrm>
            <a:off x="1228969" y="36068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你拍皮球</a:t>
            </a:r>
            <a:endParaRPr lang="en-US" sz="1200" dirty="0"/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4854EC3D-1F75-479F-1723-589ED7465B6C}"/>
              </a:ext>
            </a:extLst>
          </p:cNvPr>
          <p:cNvSpPr/>
          <p:nvPr/>
        </p:nvSpPr>
        <p:spPr>
          <a:xfrm>
            <a:off x="1254369" y="4838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妈妈洗衣服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72C58B-C4AB-2205-8D6D-56ADA5DC9D05}"/>
              </a:ext>
            </a:extLst>
          </p:cNvPr>
          <p:cNvSpPr/>
          <p:nvPr/>
        </p:nvSpPr>
        <p:spPr>
          <a:xfrm>
            <a:off x="5397500" y="2578100"/>
            <a:ext cx="723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6B15C7-A782-6946-A3CC-8624CB0FE89F}"/>
              </a:ext>
            </a:extLst>
          </p:cNvPr>
          <p:cNvSpPr/>
          <p:nvPr/>
        </p:nvSpPr>
        <p:spPr>
          <a:xfrm>
            <a:off x="5397500" y="3810000"/>
            <a:ext cx="723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325A12F-ED70-1AC6-C4FF-A78AF58B47AD}"/>
              </a:ext>
            </a:extLst>
          </p:cNvPr>
          <p:cNvSpPr/>
          <p:nvPr/>
        </p:nvSpPr>
        <p:spPr>
          <a:xfrm>
            <a:off x="5727700" y="5029200"/>
            <a:ext cx="6858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96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295EB-1A56-B586-880D-C2B4EE80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1DD79D3-DEFD-AF81-7A1E-88D6FCA6E576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谓语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A0069F6D-6E62-E253-7226-6FA086D5F526}"/>
              </a:ext>
            </a:extLst>
          </p:cNvPr>
          <p:cNvSpPr/>
          <p:nvPr/>
        </p:nvSpPr>
        <p:spPr>
          <a:xfrm>
            <a:off x="635000" y="19050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CAB54F53-BF3B-9A37-9F04-ACBFC7BD1DD2}"/>
              </a:ext>
            </a:extLst>
          </p:cNvPr>
          <p:cNvSpPr/>
          <p:nvPr/>
        </p:nvSpPr>
        <p:spPr>
          <a:xfrm>
            <a:off x="1228969" y="23749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07B294B-1D1A-2619-ECFC-2395CD3B9240}"/>
              </a:ext>
            </a:extLst>
          </p:cNvPr>
          <p:cNvSpPr/>
          <p:nvPr/>
        </p:nvSpPr>
        <p:spPr>
          <a:xfrm>
            <a:off x="1228969" y="23749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我们打扫教室</a:t>
            </a:r>
            <a:endParaRPr lang="en-US" sz="1200" dirty="0"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7A313AE6-5104-17DD-B123-DA6F337C3B49}"/>
              </a:ext>
            </a:extLst>
          </p:cNvPr>
          <p:cNvSpPr/>
          <p:nvPr/>
        </p:nvSpPr>
        <p:spPr>
          <a:xfrm>
            <a:off x="1203569" y="36131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23DEEE06-BB56-14D0-A7FA-6F3F5DF284A7}"/>
              </a:ext>
            </a:extLst>
          </p:cNvPr>
          <p:cNvSpPr/>
          <p:nvPr/>
        </p:nvSpPr>
        <p:spPr>
          <a:xfrm>
            <a:off x="1228969" y="48514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F7CDF412-144C-9A8E-D110-2594DDF55E31}"/>
              </a:ext>
            </a:extLst>
          </p:cNvPr>
          <p:cNvSpPr/>
          <p:nvPr/>
        </p:nvSpPr>
        <p:spPr>
          <a:xfrm>
            <a:off x="1228969" y="36068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蜜蜂采集花蜜</a:t>
            </a:r>
            <a:endParaRPr lang="en-US" sz="1200" dirty="0"/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942C35A8-C564-69E9-5203-3B432B3F33B4}"/>
              </a:ext>
            </a:extLst>
          </p:cNvPr>
          <p:cNvSpPr/>
          <p:nvPr/>
        </p:nvSpPr>
        <p:spPr>
          <a:xfrm>
            <a:off x="1254369" y="4838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厨师制作饭菜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F4CD6D1-1499-EC46-FB35-71525A59AF8E}"/>
              </a:ext>
            </a:extLst>
          </p:cNvPr>
          <p:cNvSpPr/>
          <p:nvPr/>
        </p:nvSpPr>
        <p:spPr>
          <a:xfrm>
            <a:off x="5422900" y="25781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2352798-90DD-9A7D-61D5-919269A9B3B6}"/>
              </a:ext>
            </a:extLst>
          </p:cNvPr>
          <p:cNvSpPr/>
          <p:nvPr/>
        </p:nvSpPr>
        <p:spPr>
          <a:xfrm>
            <a:off x="5372100" y="3810000"/>
            <a:ext cx="12700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24B0E5-950C-7542-E33E-AA6565715B21}"/>
              </a:ext>
            </a:extLst>
          </p:cNvPr>
          <p:cNvSpPr/>
          <p:nvPr/>
        </p:nvSpPr>
        <p:spPr>
          <a:xfrm>
            <a:off x="5448300" y="5029200"/>
            <a:ext cx="12065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9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99F54-EE54-4B8A-CFBC-A68F3DB0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5ED4DDA-A224-D40C-64AB-AA41697D7D1B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谓语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076B7607-77DE-F79D-B2A1-FCAEF04CDBAB}"/>
              </a:ext>
            </a:extLst>
          </p:cNvPr>
          <p:cNvSpPr/>
          <p:nvPr/>
        </p:nvSpPr>
        <p:spPr>
          <a:xfrm>
            <a:off x="635000" y="19050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755339D3-547B-60D3-E035-9C2B8474B1F5}"/>
              </a:ext>
            </a:extLst>
          </p:cNvPr>
          <p:cNvSpPr/>
          <p:nvPr/>
        </p:nvSpPr>
        <p:spPr>
          <a:xfrm>
            <a:off x="1228969" y="23749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A10944A2-4ECD-367B-2668-1ACF9D8C75D3}"/>
              </a:ext>
            </a:extLst>
          </p:cNvPr>
          <p:cNvSpPr/>
          <p:nvPr/>
        </p:nvSpPr>
        <p:spPr>
          <a:xfrm>
            <a:off x="1228969" y="23749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野花散发清香</a:t>
            </a:r>
            <a:endParaRPr lang="en-US" altLang="zh-CN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2C3DD617-F61B-388F-6157-C460DE780330}"/>
              </a:ext>
            </a:extLst>
          </p:cNvPr>
          <p:cNvSpPr/>
          <p:nvPr/>
        </p:nvSpPr>
        <p:spPr>
          <a:xfrm>
            <a:off x="1203569" y="36131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0BC876EF-1A07-E2C1-82A6-AE5F29C665E9}"/>
              </a:ext>
            </a:extLst>
          </p:cNvPr>
          <p:cNvSpPr/>
          <p:nvPr/>
        </p:nvSpPr>
        <p:spPr>
          <a:xfrm>
            <a:off x="1228969" y="48514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58941239-50ED-1E81-6B43-1821EB0A02FB}"/>
              </a:ext>
            </a:extLst>
          </p:cNvPr>
          <p:cNvSpPr/>
          <p:nvPr/>
        </p:nvSpPr>
        <p:spPr>
          <a:xfrm>
            <a:off x="1228969" y="36068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露珠滋润花叶</a:t>
            </a:r>
            <a:endParaRPr lang="en-US" altLang="zh-CN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CA023132-CD40-AC41-F447-77C3E59A4278}"/>
              </a:ext>
            </a:extLst>
          </p:cNvPr>
          <p:cNvSpPr/>
          <p:nvPr/>
        </p:nvSpPr>
        <p:spPr>
          <a:xfrm>
            <a:off x="1254369" y="4838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水壶烧开清水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7B11D00-19B6-7F2B-862A-FA577A7970F7}"/>
              </a:ext>
            </a:extLst>
          </p:cNvPr>
          <p:cNvSpPr/>
          <p:nvPr/>
        </p:nvSpPr>
        <p:spPr>
          <a:xfrm>
            <a:off x="5384800" y="25781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A07E745-E694-979A-89B6-4663EB1D9158}"/>
              </a:ext>
            </a:extLst>
          </p:cNvPr>
          <p:cNvSpPr/>
          <p:nvPr/>
        </p:nvSpPr>
        <p:spPr>
          <a:xfrm>
            <a:off x="5410200" y="3810000"/>
            <a:ext cx="12700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1D2969C-6E04-BB71-DEE5-F04476451BF7}"/>
              </a:ext>
            </a:extLst>
          </p:cNvPr>
          <p:cNvSpPr/>
          <p:nvPr/>
        </p:nvSpPr>
        <p:spPr>
          <a:xfrm>
            <a:off x="5461000" y="5029200"/>
            <a:ext cx="12065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06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句子的</a:t>
            </a: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对象</a:t>
            </a: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宾语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4953000"/>
            <a:ext cx="2794000" cy="1397000"/>
          </a:xfrm>
          <a:prstGeom prst="roundRect">
            <a:avLst>
              <a:gd name="adj" fmla="val 13636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C8C8C8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5207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“我是宾语，</a:t>
            </a:r>
            <a:br>
              <a:rPr lang="en-US" sz="18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是动作的承受者！”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0" y="1905000"/>
            <a:ext cx="7112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0" y="2222500"/>
            <a:ext cx="762000" cy="762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588000" y="2159000"/>
            <a:ext cx="558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小猫在吃</a:t>
            </a:r>
            <a:r>
              <a:rPr lang="en-US" sz="3600" b="1" i="0" u="none" strike="noStrike" dirty="0" err="1">
                <a:solidFill>
                  <a:srgbClr val="1F2329"/>
                </a:solidFill>
                <a:highlight>
                  <a:srgbClr val="FFD54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鱼</a:t>
            </a:r>
            <a:r>
              <a:rPr lang="en-US" sz="32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dirty="0"/>
          </a:p>
        </p:txBody>
      </p:sp>
      <p:sp>
        <p:nvSpPr>
          <p:cNvPr id="9" name="AutoShape 9"/>
          <p:cNvSpPr/>
          <p:nvPr/>
        </p:nvSpPr>
        <p:spPr>
          <a:xfrm>
            <a:off x="4318000" y="3556000"/>
            <a:ext cx="7112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3873500"/>
            <a:ext cx="762000" cy="762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88000" y="3810000"/>
            <a:ext cx="558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爸爸正在看</a:t>
            </a:r>
            <a:r>
              <a:rPr lang="en-US" sz="3600" b="1" i="0" u="none" strike="noStrike" dirty="0" err="1">
                <a:solidFill>
                  <a:srgbClr val="1F2329"/>
                </a:solidFill>
                <a:highlight>
                  <a:srgbClr val="FFD54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报纸</a:t>
            </a:r>
            <a:r>
              <a:rPr lang="en-US" sz="32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dirty="0"/>
          </a:p>
        </p:txBody>
      </p:sp>
      <p:sp>
        <p:nvSpPr>
          <p:cNvPr id="12" name="AutoShape 12"/>
          <p:cNvSpPr/>
          <p:nvPr/>
        </p:nvSpPr>
        <p:spPr>
          <a:xfrm>
            <a:off x="4318000" y="5207000"/>
            <a:ext cx="7112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55245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588000" y="5461000"/>
            <a:ext cx="558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</a:t>
            </a:r>
            <a:r>
              <a:rPr lang="zh-CN" altLang="en-US" sz="32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摘下</a:t>
            </a:r>
            <a:r>
              <a:rPr lang="en-US" sz="3600" b="1" i="0" u="none" strike="noStrike" dirty="0">
                <a:solidFill>
                  <a:srgbClr val="1F2329"/>
                </a:solidFill>
                <a:highlight>
                  <a:srgbClr val="FFD54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花</a:t>
            </a:r>
            <a:r>
              <a:rPr lang="zh-CN" altLang="en-US" sz="3600" b="1" i="0" u="none" strike="noStrike" dirty="0">
                <a:solidFill>
                  <a:srgbClr val="1F2329"/>
                </a:solidFill>
                <a:highlight>
                  <a:srgbClr val="FFD54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朵</a:t>
            </a:r>
            <a:r>
              <a:rPr lang="en-US" sz="32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dirty="0"/>
          </a:p>
        </p:txBody>
      </p:sp>
      <p:pic>
        <p:nvPicPr>
          <p:cNvPr id="16" name="Picture 15" descr="Young man reading newspaper">
            <a:extLst>
              <a:ext uri="{FF2B5EF4-FFF2-40B4-BE49-F238E27FC236}">
                <a16:creationId xmlns:a16="http://schemas.microsoft.com/office/drawing/2014/main" id="{EA3B55BE-5AC1-6C71-CC1E-2A16185DC2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583" y="1989751"/>
            <a:ext cx="3932834" cy="2624498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AB04F6F2-4F0E-D7A2-4E52-DCF401D0FD00}"/>
              </a:ext>
            </a:extLst>
          </p:cNvPr>
          <p:cNvSpPr/>
          <p:nvPr/>
        </p:nvSpPr>
        <p:spPr>
          <a:xfrm>
            <a:off x="63500" y="3213100"/>
            <a:ext cx="2133600" cy="161290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8B301-22C4-3DF1-276A-F5090331F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491C065-5DCA-05DC-AF12-F4364C97DB92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</a:t>
            </a: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宾语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D75CB499-902D-9CD3-C290-4E57C9B073D4}"/>
              </a:ext>
            </a:extLst>
          </p:cNvPr>
          <p:cNvSpPr/>
          <p:nvPr/>
        </p:nvSpPr>
        <p:spPr>
          <a:xfrm>
            <a:off x="635000" y="19050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49CA4B0C-ECD0-6173-CA2C-6584FEC1980B}"/>
              </a:ext>
            </a:extLst>
          </p:cNvPr>
          <p:cNvSpPr/>
          <p:nvPr/>
        </p:nvSpPr>
        <p:spPr>
          <a:xfrm>
            <a:off x="1228969" y="23749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F122CDAC-D389-4C71-9339-C6F9703BD4D6}"/>
              </a:ext>
            </a:extLst>
          </p:cNvPr>
          <p:cNvSpPr/>
          <p:nvPr/>
        </p:nvSpPr>
        <p:spPr>
          <a:xfrm>
            <a:off x="1228969" y="23749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我吃苹果</a:t>
            </a:r>
            <a:endParaRPr lang="en-US" sz="1200" dirty="0"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D74EE020-3C59-2590-C0A6-2F3AB4EBDACF}"/>
              </a:ext>
            </a:extLst>
          </p:cNvPr>
          <p:cNvSpPr/>
          <p:nvPr/>
        </p:nvSpPr>
        <p:spPr>
          <a:xfrm>
            <a:off x="1203569" y="36131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3B90CF80-AE0E-DD5D-1EA2-0247B0BD154C}"/>
              </a:ext>
            </a:extLst>
          </p:cNvPr>
          <p:cNvSpPr/>
          <p:nvPr/>
        </p:nvSpPr>
        <p:spPr>
          <a:xfrm>
            <a:off x="1228969" y="48514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B5AB2E4D-E8C9-20E0-5922-0743197EB6A4}"/>
              </a:ext>
            </a:extLst>
          </p:cNvPr>
          <p:cNvSpPr/>
          <p:nvPr/>
        </p:nvSpPr>
        <p:spPr>
          <a:xfrm>
            <a:off x="1228969" y="36068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你拍皮球</a:t>
            </a:r>
            <a:endParaRPr lang="en-US" sz="1200" dirty="0"/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87297496-7E73-8433-790B-A33AE80F8C1C}"/>
              </a:ext>
            </a:extLst>
          </p:cNvPr>
          <p:cNvSpPr/>
          <p:nvPr/>
        </p:nvSpPr>
        <p:spPr>
          <a:xfrm>
            <a:off x="1254369" y="4838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妈妈洗衣服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415B86F-20C9-E1DD-3367-221248EFCA6B}"/>
              </a:ext>
            </a:extLst>
          </p:cNvPr>
          <p:cNvSpPr/>
          <p:nvPr/>
        </p:nvSpPr>
        <p:spPr>
          <a:xfrm>
            <a:off x="5930900" y="2578100"/>
            <a:ext cx="11684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E6B46E5-57D8-AFF4-0EB2-8CD409F67EEE}"/>
              </a:ext>
            </a:extLst>
          </p:cNvPr>
          <p:cNvSpPr/>
          <p:nvPr/>
        </p:nvSpPr>
        <p:spPr>
          <a:xfrm>
            <a:off x="5969000" y="3810000"/>
            <a:ext cx="12192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70899F-CAE9-E040-4389-92D767DEF3E4}"/>
              </a:ext>
            </a:extLst>
          </p:cNvPr>
          <p:cNvSpPr/>
          <p:nvPr/>
        </p:nvSpPr>
        <p:spPr>
          <a:xfrm>
            <a:off x="6223000" y="5029200"/>
            <a:ext cx="11811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87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7B99B-3C4C-9333-E075-0BF56D87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5D8B0B1-449B-7047-A710-44E79F967074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</a:t>
            </a: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宾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语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937E4CDF-A7AB-BD3B-EF77-C18BD8DF9ED8}"/>
              </a:ext>
            </a:extLst>
          </p:cNvPr>
          <p:cNvSpPr/>
          <p:nvPr/>
        </p:nvSpPr>
        <p:spPr>
          <a:xfrm>
            <a:off x="635000" y="19050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A2C9B185-B751-F327-B41C-A28B475EF898}"/>
              </a:ext>
            </a:extLst>
          </p:cNvPr>
          <p:cNvSpPr/>
          <p:nvPr/>
        </p:nvSpPr>
        <p:spPr>
          <a:xfrm>
            <a:off x="1228969" y="23749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B277165-6B75-86C2-D831-F7685988C9EF}"/>
              </a:ext>
            </a:extLst>
          </p:cNvPr>
          <p:cNvSpPr/>
          <p:nvPr/>
        </p:nvSpPr>
        <p:spPr>
          <a:xfrm>
            <a:off x="1228969" y="23749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我们打扫教室</a:t>
            </a:r>
            <a:endParaRPr lang="en-US" sz="1200" dirty="0"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9A064FC6-17CA-7B34-8727-CF738DF9533C}"/>
              </a:ext>
            </a:extLst>
          </p:cNvPr>
          <p:cNvSpPr/>
          <p:nvPr/>
        </p:nvSpPr>
        <p:spPr>
          <a:xfrm>
            <a:off x="1203569" y="36131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4CF577D0-F1B3-D6EF-CC7B-E6966E1CD45D}"/>
              </a:ext>
            </a:extLst>
          </p:cNvPr>
          <p:cNvSpPr/>
          <p:nvPr/>
        </p:nvSpPr>
        <p:spPr>
          <a:xfrm>
            <a:off x="1228969" y="48514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977D9A78-4DB1-6FEE-1FD9-EE8E9B45AB99}"/>
              </a:ext>
            </a:extLst>
          </p:cNvPr>
          <p:cNvSpPr/>
          <p:nvPr/>
        </p:nvSpPr>
        <p:spPr>
          <a:xfrm>
            <a:off x="1228969" y="36068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蜜蜂采集花蜜</a:t>
            </a:r>
            <a:endParaRPr lang="en-US" sz="1200" dirty="0"/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B7C24859-0E5D-F547-9484-B884647EDA9D}"/>
              </a:ext>
            </a:extLst>
          </p:cNvPr>
          <p:cNvSpPr/>
          <p:nvPr/>
        </p:nvSpPr>
        <p:spPr>
          <a:xfrm>
            <a:off x="1254369" y="4838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厨师制作饭菜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D1859BC-F74F-1386-B13A-1834A92E050C}"/>
              </a:ext>
            </a:extLst>
          </p:cNvPr>
          <p:cNvSpPr/>
          <p:nvPr/>
        </p:nvSpPr>
        <p:spPr>
          <a:xfrm>
            <a:off x="6375400" y="25781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1612962-AC35-C801-1BF4-4DFFF753A688}"/>
              </a:ext>
            </a:extLst>
          </p:cNvPr>
          <p:cNvSpPr/>
          <p:nvPr/>
        </p:nvSpPr>
        <p:spPr>
          <a:xfrm>
            <a:off x="6375400" y="3810000"/>
            <a:ext cx="12700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201B449-8D98-21FD-7330-734D009823F3}"/>
              </a:ext>
            </a:extLst>
          </p:cNvPr>
          <p:cNvSpPr/>
          <p:nvPr/>
        </p:nvSpPr>
        <p:spPr>
          <a:xfrm>
            <a:off x="6438900" y="5041900"/>
            <a:ext cx="12065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19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F416E-252C-228B-2A61-86EA46C77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1963DD6-2227-7D14-A94E-2B95492F299D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</a:t>
            </a: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宾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语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9D6867F2-4F14-EB32-B158-65D7662F427A}"/>
              </a:ext>
            </a:extLst>
          </p:cNvPr>
          <p:cNvSpPr/>
          <p:nvPr/>
        </p:nvSpPr>
        <p:spPr>
          <a:xfrm>
            <a:off x="635000" y="19050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8BADE22-B596-544B-906F-8517EE902F04}"/>
              </a:ext>
            </a:extLst>
          </p:cNvPr>
          <p:cNvSpPr/>
          <p:nvPr/>
        </p:nvSpPr>
        <p:spPr>
          <a:xfrm>
            <a:off x="1228969" y="23749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CE454549-8D13-8526-8FF5-91564E98D66F}"/>
              </a:ext>
            </a:extLst>
          </p:cNvPr>
          <p:cNvSpPr/>
          <p:nvPr/>
        </p:nvSpPr>
        <p:spPr>
          <a:xfrm>
            <a:off x="1228969" y="23749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野花散发清香</a:t>
            </a:r>
            <a:endParaRPr lang="en-US" altLang="zh-CN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0B5ED1BB-2C49-84E7-0BA0-D3FAC1A88DDF}"/>
              </a:ext>
            </a:extLst>
          </p:cNvPr>
          <p:cNvSpPr/>
          <p:nvPr/>
        </p:nvSpPr>
        <p:spPr>
          <a:xfrm>
            <a:off x="1203569" y="36131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6B57BF42-D436-B390-2382-8DB56F14D9BD}"/>
              </a:ext>
            </a:extLst>
          </p:cNvPr>
          <p:cNvSpPr/>
          <p:nvPr/>
        </p:nvSpPr>
        <p:spPr>
          <a:xfrm>
            <a:off x="1228969" y="48514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BD447B22-639B-3924-16D6-36C01A8897C6}"/>
              </a:ext>
            </a:extLst>
          </p:cNvPr>
          <p:cNvSpPr/>
          <p:nvPr/>
        </p:nvSpPr>
        <p:spPr>
          <a:xfrm>
            <a:off x="1228969" y="36068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>
                <a:solidFill>
                  <a:srgbClr val="3F51B5"/>
                </a:solidFill>
                <a:latin typeface="Noto Sans SC"/>
                <a:ea typeface="Noto Sans SC"/>
              </a:rPr>
              <a:t>露珠滋润花叶</a:t>
            </a:r>
            <a:endParaRPr lang="en-US" altLang="zh-CN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3B74FBC2-FF3D-DF8A-460C-4BEF466E8446}"/>
              </a:ext>
            </a:extLst>
          </p:cNvPr>
          <p:cNvSpPr/>
          <p:nvPr/>
        </p:nvSpPr>
        <p:spPr>
          <a:xfrm>
            <a:off x="1254369" y="4838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水壶烧开清水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D0B3B41-10AF-5FF5-8D3A-D3D34F8390E1}"/>
              </a:ext>
            </a:extLst>
          </p:cNvPr>
          <p:cNvSpPr/>
          <p:nvPr/>
        </p:nvSpPr>
        <p:spPr>
          <a:xfrm>
            <a:off x="6413500" y="25781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A8441D0-57DD-4ABA-F9D4-98D41BF98380}"/>
              </a:ext>
            </a:extLst>
          </p:cNvPr>
          <p:cNvSpPr/>
          <p:nvPr/>
        </p:nvSpPr>
        <p:spPr>
          <a:xfrm>
            <a:off x="6350000" y="3810000"/>
            <a:ext cx="12700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B25002-2F35-BEAE-6936-0E0CEAD65BED}"/>
              </a:ext>
            </a:extLst>
          </p:cNvPr>
          <p:cNvSpPr/>
          <p:nvPr/>
        </p:nvSpPr>
        <p:spPr>
          <a:xfrm>
            <a:off x="6451600" y="5029200"/>
            <a:ext cx="12065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83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01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游戏时间到！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6731" b="16731"/>
          <a:stretch>
            <a:fillRect/>
          </a:stretch>
        </p:blipFill>
        <p:spPr>
          <a:xfrm>
            <a:off x="4953000" y="2159000"/>
            <a:ext cx="2286000" cy="2286000"/>
          </a:xfrm>
          <a:prstGeom prst="roundRect">
            <a:avLst>
              <a:gd name="adj" fmla="val 11111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270000" y="4699000"/>
            <a:ext cx="9652000" cy="1397000"/>
          </a:xfrm>
          <a:prstGeom prst="roundRect">
            <a:avLst>
              <a:gd name="adj" fmla="val 18181"/>
            </a:avLst>
          </a:prstGeom>
          <a:solidFill>
            <a:srgbClr val="FF8A6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524000" y="4953000"/>
            <a:ext cx="914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准备好了吗？让我们用刚刚学到的知识来一场比赛吧！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主谓宾拉火车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38100" y="60833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Ready? Go! </a:t>
            </a:r>
            <a:r>
              <a:rPr lang="en-US" sz="2400" b="1" i="0" u="none" strike="noStrike" dirty="0" err="1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请第一组同学接</a:t>
            </a:r>
            <a:r>
              <a:rPr lang="zh-CN" altLang="en-US" sz="24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龙答题</a:t>
            </a:r>
            <a:r>
              <a:rPr lang="en-US" sz="24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！🚂</a:t>
            </a:r>
            <a:endParaRPr lang="en-US" sz="1100" dirty="0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E5C9CD74-6521-F908-559C-0E4FE6F088DF}"/>
              </a:ext>
            </a:extLst>
          </p:cNvPr>
          <p:cNvSpPr/>
          <p:nvPr/>
        </p:nvSpPr>
        <p:spPr>
          <a:xfrm>
            <a:off x="635000" y="17018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D699A052-7884-0E15-4F2D-D18671A629EA}"/>
              </a:ext>
            </a:extLst>
          </p:cNvPr>
          <p:cNvSpPr/>
          <p:nvPr/>
        </p:nvSpPr>
        <p:spPr>
          <a:xfrm>
            <a:off x="1228969" y="21717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4">
            <a:extLst>
              <a:ext uri="{FF2B5EF4-FFF2-40B4-BE49-F238E27FC236}">
                <a16:creationId xmlns:a16="http://schemas.microsoft.com/office/drawing/2014/main" id="{5C3DC0C4-32B6-8DD1-D4B7-044D2C65FF91}"/>
              </a:ext>
            </a:extLst>
          </p:cNvPr>
          <p:cNvSpPr/>
          <p:nvPr/>
        </p:nvSpPr>
        <p:spPr>
          <a:xfrm>
            <a:off x="1228969" y="2171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帆船驶向大海</a:t>
            </a:r>
            <a:endParaRPr lang="en-US" sz="1200" dirty="0"/>
          </a:p>
        </p:txBody>
      </p:sp>
      <p:sp>
        <p:nvSpPr>
          <p:cNvPr id="19" name="AutoShape 13">
            <a:extLst>
              <a:ext uri="{FF2B5EF4-FFF2-40B4-BE49-F238E27FC236}">
                <a16:creationId xmlns:a16="http://schemas.microsoft.com/office/drawing/2014/main" id="{E776C41F-4F01-E014-F77F-43B2047D720C}"/>
              </a:ext>
            </a:extLst>
          </p:cNvPr>
          <p:cNvSpPr/>
          <p:nvPr/>
        </p:nvSpPr>
        <p:spPr>
          <a:xfrm>
            <a:off x="1203569" y="34099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3">
            <a:extLst>
              <a:ext uri="{FF2B5EF4-FFF2-40B4-BE49-F238E27FC236}">
                <a16:creationId xmlns:a16="http://schemas.microsoft.com/office/drawing/2014/main" id="{702BBD00-42B1-A418-6E9F-C495540A2B1E}"/>
              </a:ext>
            </a:extLst>
          </p:cNvPr>
          <p:cNvSpPr/>
          <p:nvPr/>
        </p:nvSpPr>
        <p:spPr>
          <a:xfrm>
            <a:off x="1228969" y="46482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1" name="AutoShape 14">
            <a:extLst>
              <a:ext uri="{FF2B5EF4-FFF2-40B4-BE49-F238E27FC236}">
                <a16:creationId xmlns:a16="http://schemas.microsoft.com/office/drawing/2014/main" id="{CD3B5E20-0B18-A823-AAC6-D36F1A27AC31}"/>
              </a:ext>
            </a:extLst>
          </p:cNvPr>
          <p:cNvSpPr/>
          <p:nvPr/>
        </p:nvSpPr>
        <p:spPr>
          <a:xfrm>
            <a:off x="1228969" y="34036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落叶铺满小路</a:t>
            </a:r>
            <a:endParaRPr lang="en-US" sz="1200" dirty="0"/>
          </a:p>
        </p:txBody>
      </p:sp>
      <p:sp>
        <p:nvSpPr>
          <p:cNvPr id="22" name="AutoShape 14">
            <a:extLst>
              <a:ext uri="{FF2B5EF4-FFF2-40B4-BE49-F238E27FC236}">
                <a16:creationId xmlns:a16="http://schemas.microsoft.com/office/drawing/2014/main" id="{980CDD6F-1DAC-0174-245B-9050F7127FD8}"/>
              </a:ext>
            </a:extLst>
          </p:cNvPr>
          <p:cNvSpPr/>
          <p:nvPr/>
        </p:nvSpPr>
        <p:spPr>
          <a:xfrm>
            <a:off x="1254369" y="46355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游客游览公园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1F32DA2-134C-FFF5-17D4-1690DDD9B708}"/>
              </a:ext>
            </a:extLst>
          </p:cNvPr>
          <p:cNvSpPr/>
          <p:nvPr/>
        </p:nvSpPr>
        <p:spPr>
          <a:xfrm>
            <a:off x="4457700" y="23749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147AB0D-BD81-2D55-702F-940BB98F0A0D}"/>
              </a:ext>
            </a:extLst>
          </p:cNvPr>
          <p:cNvSpPr/>
          <p:nvPr/>
        </p:nvSpPr>
        <p:spPr>
          <a:xfrm>
            <a:off x="5435600" y="2387600"/>
            <a:ext cx="1270000" cy="717550"/>
          </a:xfrm>
          <a:prstGeom prst="ellipse">
            <a:avLst/>
          </a:prstGeom>
          <a:noFill/>
          <a:ln w="76200">
            <a:solidFill>
              <a:srgbClr val="548235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59044A8-C0DF-9A23-CD13-1397C4CC0989}"/>
              </a:ext>
            </a:extLst>
          </p:cNvPr>
          <p:cNvSpPr/>
          <p:nvPr/>
        </p:nvSpPr>
        <p:spPr>
          <a:xfrm>
            <a:off x="6477000" y="2374900"/>
            <a:ext cx="1206500" cy="717550"/>
          </a:xfrm>
          <a:prstGeom prst="ellipse">
            <a:avLst/>
          </a:prstGeom>
          <a:noFill/>
          <a:ln w="76200">
            <a:solidFill>
              <a:srgbClr val="BF9000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81FD8B8-1109-1BFF-0F98-1056C98FD5BB}"/>
              </a:ext>
            </a:extLst>
          </p:cNvPr>
          <p:cNvSpPr/>
          <p:nvPr/>
        </p:nvSpPr>
        <p:spPr>
          <a:xfrm>
            <a:off x="4406900" y="35941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B6E8B75-073F-1543-67C8-71B8B98B2F4C}"/>
              </a:ext>
            </a:extLst>
          </p:cNvPr>
          <p:cNvSpPr/>
          <p:nvPr/>
        </p:nvSpPr>
        <p:spPr>
          <a:xfrm>
            <a:off x="5422900" y="3594100"/>
            <a:ext cx="1270000" cy="717550"/>
          </a:xfrm>
          <a:prstGeom prst="ellipse">
            <a:avLst/>
          </a:prstGeom>
          <a:noFill/>
          <a:ln w="76200">
            <a:solidFill>
              <a:srgbClr val="548235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505DB4C-2A6B-7139-A6EF-3B5EE03463FA}"/>
              </a:ext>
            </a:extLst>
          </p:cNvPr>
          <p:cNvSpPr/>
          <p:nvPr/>
        </p:nvSpPr>
        <p:spPr>
          <a:xfrm>
            <a:off x="6489700" y="3594100"/>
            <a:ext cx="1206500" cy="717550"/>
          </a:xfrm>
          <a:prstGeom prst="ellipse">
            <a:avLst/>
          </a:prstGeom>
          <a:noFill/>
          <a:ln w="76200">
            <a:solidFill>
              <a:srgbClr val="BF9000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12D5840-B9D2-F1B1-D5F4-706D04407DB9}"/>
              </a:ext>
            </a:extLst>
          </p:cNvPr>
          <p:cNvSpPr/>
          <p:nvPr/>
        </p:nvSpPr>
        <p:spPr>
          <a:xfrm>
            <a:off x="4457700" y="48133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75415CA-0374-B690-F7CD-2A4F2980A948}"/>
              </a:ext>
            </a:extLst>
          </p:cNvPr>
          <p:cNvSpPr/>
          <p:nvPr/>
        </p:nvSpPr>
        <p:spPr>
          <a:xfrm>
            <a:off x="5448300" y="4813300"/>
            <a:ext cx="1270000" cy="717550"/>
          </a:xfrm>
          <a:prstGeom prst="ellipse">
            <a:avLst/>
          </a:prstGeom>
          <a:noFill/>
          <a:ln w="76200">
            <a:solidFill>
              <a:srgbClr val="548235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2E61FD7-7D20-0BC0-844D-F189DD6AE5EE}"/>
              </a:ext>
            </a:extLst>
          </p:cNvPr>
          <p:cNvSpPr/>
          <p:nvPr/>
        </p:nvSpPr>
        <p:spPr>
          <a:xfrm>
            <a:off x="6502400" y="4826000"/>
            <a:ext cx="1206500" cy="717550"/>
          </a:xfrm>
          <a:prstGeom prst="ellipse">
            <a:avLst/>
          </a:prstGeom>
          <a:noFill/>
          <a:ln w="76200">
            <a:solidFill>
              <a:srgbClr val="BF9000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94185-7466-1EC4-5DBD-9578254C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AE9C114-7A40-7453-6F19-B2A2945456D6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主谓宾拉火车</a:t>
            </a:r>
            <a:endParaRPr lang="en-US" sz="1100" dirty="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E80C8AF3-9AC0-0CAA-C2A8-286F038A9BB1}"/>
              </a:ext>
            </a:extLst>
          </p:cNvPr>
          <p:cNvSpPr/>
          <p:nvPr/>
        </p:nvSpPr>
        <p:spPr>
          <a:xfrm>
            <a:off x="38100" y="60833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Ready? Go! </a:t>
            </a:r>
            <a:r>
              <a:rPr lang="en-US" sz="2400" b="1" i="0" u="none" strike="noStrike" dirty="0" err="1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请第</a:t>
            </a:r>
            <a:r>
              <a:rPr lang="zh-CN" altLang="en-US" sz="24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二</a:t>
            </a:r>
            <a:r>
              <a:rPr lang="en-US" sz="2400" b="1" i="0" u="none" strike="noStrike" dirty="0" err="1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组同学接</a:t>
            </a:r>
            <a:r>
              <a:rPr lang="zh-CN" altLang="en-US" sz="24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龙答题</a:t>
            </a:r>
            <a:r>
              <a:rPr lang="en-US" sz="24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！🚂</a:t>
            </a:r>
            <a:endParaRPr lang="en-US" sz="1100" dirty="0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93D6966C-1BE0-9E7A-61D2-E5EC02746A9F}"/>
              </a:ext>
            </a:extLst>
          </p:cNvPr>
          <p:cNvSpPr/>
          <p:nvPr/>
        </p:nvSpPr>
        <p:spPr>
          <a:xfrm>
            <a:off x="635000" y="17018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BE1B88B0-CC30-BECC-9BF0-7305F159C867}"/>
              </a:ext>
            </a:extLst>
          </p:cNvPr>
          <p:cNvSpPr/>
          <p:nvPr/>
        </p:nvSpPr>
        <p:spPr>
          <a:xfrm>
            <a:off x="1228969" y="21717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4">
            <a:extLst>
              <a:ext uri="{FF2B5EF4-FFF2-40B4-BE49-F238E27FC236}">
                <a16:creationId xmlns:a16="http://schemas.microsoft.com/office/drawing/2014/main" id="{DFDE877D-A43C-DA66-3DD9-B5270FD5F948}"/>
              </a:ext>
            </a:extLst>
          </p:cNvPr>
          <p:cNvSpPr/>
          <p:nvPr/>
        </p:nvSpPr>
        <p:spPr>
          <a:xfrm>
            <a:off x="1228969" y="2171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小鸟整理羽毛</a:t>
            </a:r>
            <a:endParaRPr lang="en-US" sz="1200" dirty="0"/>
          </a:p>
        </p:txBody>
      </p:sp>
      <p:sp>
        <p:nvSpPr>
          <p:cNvPr id="19" name="AutoShape 13">
            <a:extLst>
              <a:ext uri="{FF2B5EF4-FFF2-40B4-BE49-F238E27FC236}">
                <a16:creationId xmlns:a16="http://schemas.microsoft.com/office/drawing/2014/main" id="{A6FBF9D0-5A7A-58E6-72F5-A705D6995CDC}"/>
              </a:ext>
            </a:extLst>
          </p:cNvPr>
          <p:cNvSpPr/>
          <p:nvPr/>
        </p:nvSpPr>
        <p:spPr>
          <a:xfrm>
            <a:off x="1203569" y="34099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3">
            <a:extLst>
              <a:ext uri="{FF2B5EF4-FFF2-40B4-BE49-F238E27FC236}">
                <a16:creationId xmlns:a16="http://schemas.microsoft.com/office/drawing/2014/main" id="{79EA938D-8ACC-2EEA-8A9B-FA1D119793ED}"/>
              </a:ext>
            </a:extLst>
          </p:cNvPr>
          <p:cNvSpPr/>
          <p:nvPr/>
        </p:nvSpPr>
        <p:spPr>
          <a:xfrm>
            <a:off x="1228969" y="46482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1" name="AutoShape 14">
            <a:extLst>
              <a:ext uri="{FF2B5EF4-FFF2-40B4-BE49-F238E27FC236}">
                <a16:creationId xmlns:a16="http://schemas.microsoft.com/office/drawing/2014/main" id="{AC2F02E1-696F-07BA-A8C7-4075461DEFDC}"/>
              </a:ext>
            </a:extLst>
          </p:cNvPr>
          <p:cNvSpPr/>
          <p:nvPr/>
        </p:nvSpPr>
        <p:spPr>
          <a:xfrm>
            <a:off x="1228969" y="34036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同学们背诵古诗</a:t>
            </a:r>
            <a:endParaRPr lang="en-US" sz="1200" dirty="0"/>
          </a:p>
        </p:txBody>
      </p:sp>
      <p:sp>
        <p:nvSpPr>
          <p:cNvPr id="22" name="AutoShape 14">
            <a:extLst>
              <a:ext uri="{FF2B5EF4-FFF2-40B4-BE49-F238E27FC236}">
                <a16:creationId xmlns:a16="http://schemas.microsoft.com/office/drawing/2014/main" id="{ADAE0AF0-39D3-30B5-7B69-5AE2D1987C6E}"/>
              </a:ext>
            </a:extLst>
          </p:cNvPr>
          <p:cNvSpPr/>
          <p:nvPr/>
        </p:nvSpPr>
        <p:spPr>
          <a:xfrm>
            <a:off x="1254369" y="46355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老师分发作业本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7FF02E3-2645-3DE0-CE94-BC0C5D20FF39}"/>
              </a:ext>
            </a:extLst>
          </p:cNvPr>
          <p:cNvSpPr/>
          <p:nvPr/>
        </p:nvSpPr>
        <p:spPr>
          <a:xfrm>
            <a:off x="4457700" y="23749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120B48D-2E03-2334-CD00-B5D8C0D6705D}"/>
              </a:ext>
            </a:extLst>
          </p:cNvPr>
          <p:cNvSpPr/>
          <p:nvPr/>
        </p:nvSpPr>
        <p:spPr>
          <a:xfrm>
            <a:off x="5435600" y="2387600"/>
            <a:ext cx="1270000" cy="717550"/>
          </a:xfrm>
          <a:prstGeom prst="ellipse">
            <a:avLst/>
          </a:prstGeom>
          <a:noFill/>
          <a:ln w="76200">
            <a:solidFill>
              <a:srgbClr val="548235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3CB2F4B-8111-1B62-8809-46B6604D3299}"/>
              </a:ext>
            </a:extLst>
          </p:cNvPr>
          <p:cNvSpPr/>
          <p:nvPr/>
        </p:nvSpPr>
        <p:spPr>
          <a:xfrm>
            <a:off x="6477000" y="2374900"/>
            <a:ext cx="1206500" cy="717550"/>
          </a:xfrm>
          <a:prstGeom prst="ellipse">
            <a:avLst/>
          </a:prstGeom>
          <a:noFill/>
          <a:ln w="76200">
            <a:solidFill>
              <a:srgbClr val="BF9000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7C6E60-0CDD-AF1C-7F82-941139E4AE12}"/>
              </a:ext>
            </a:extLst>
          </p:cNvPr>
          <p:cNvSpPr/>
          <p:nvPr/>
        </p:nvSpPr>
        <p:spPr>
          <a:xfrm>
            <a:off x="4229100" y="3594100"/>
            <a:ext cx="1612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B8F02D4-1130-B861-039B-1452338D097C}"/>
              </a:ext>
            </a:extLst>
          </p:cNvPr>
          <p:cNvSpPr/>
          <p:nvPr/>
        </p:nvSpPr>
        <p:spPr>
          <a:xfrm>
            <a:off x="5626100" y="3594100"/>
            <a:ext cx="1270000" cy="717550"/>
          </a:xfrm>
          <a:prstGeom prst="ellipse">
            <a:avLst/>
          </a:prstGeom>
          <a:noFill/>
          <a:ln w="76200">
            <a:solidFill>
              <a:srgbClr val="548235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E3F28CA-27BC-5B39-F93C-7C53DF2D4EC1}"/>
              </a:ext>
            </a:extLst>
          </p:cNvPr>
          <p:cNvSpPr/>
          <p:nvPr/>
        </p:nvSpPr>
        <p:spPr>
          <a:xfrm>
            <a:off x="6692900" y="3594100"/>
            <a:ext cx="1206500" cy="717550"/>
          </a:xfrm>
          <a:prstGeom prst="ellipse">
            <a:avLst/>
          </a:prstGeom>
          <a:noFill/>
          <a:ln w="76200">
            <a:solidFill>
              <a:srgbClr val="BF9000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33E6DED-318B-0BBF-F322-A558B9B1472D}"/>
              </a:ext>
            </a:extLst>
          </p:cNvPr>
          <p:cNvSpPr/>
          <p:nvPr/>
        </p:nvSpPr>
        <p:spPr>
          <a:xfrm>
            <a:off x="4229100" y="48133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9BC5EAB-853C-408E-4AA1-BB6FB677DE99}"/>
              </a:ext>
            </a:extLst>
          </p:cNvPr>
          <p:cNvSpPr/>
          <p:nvPr/>
        </p:nvSpPr>
        <p:spPr>
          <a:xfrm>
            <a:off x="5232400" y="4813300"/>
            <a:ext cx="1270000" cy="717550"/>
          </a:xfrm>
          <a:prstGeom prst="ellipse">
            <a:avLst/>
          </a:prstGeom>
          <a:noFill/>
          <a:ln w="76200">
            <a:solidFill>
              <a:srgbClr val="548235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C935FE7-AB44-6A00-47D5-C8E34060CC5A}"/>
              </a:ext>
            </a:extLst>
          </p:cNvPr>
          <p:cNvSpPr/>
          <p:nvPr/>
        </p:nvSpPr>
        <p:spPr>
          <a:xfrm>
            <a:off x="6184900" y="4826000"/>
            <a:ext cx="1752600" cy="717550"/>
          </a:xfrm>
          <a:prstGeom prst="ellipse">
            <a:avLst/>
          </a:prstGeom>
          <a:noFill/>
          <a:ln w="76200">
            <a:solidFill>
              <a:srgbClr val="BF9000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56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7802F-9DEF-0405-C7A7-7150BE80D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F0157A9-C30A-1F5A-A052-8E39206084F3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主谓宾拉火车</a:t>
            </a:r>
            <a:endParaRPr lang="en-US" sz="1100" dirty="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1F21DC4F-A5EA-3FD5-B44F-4F5443422727}"/>
              </a:ext>
            </a:extLst>
          </p:cNvPr>
          <p:cNvSpPr/>
          <p:nvPr/>
        </p:nvSpPr>
        <p:spPr>
          <a:xfrm>
            <a:off x="38100" y="60833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Ready? Go! </a:t>
            </a:r>
            <a:r>
              <a:rPr lang="en-US" sz="2400" b="1" i="0" u="none" strike="noStrike" dirty="0" err="1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请第</a:t>
            </a:r>
            <a:r>
              <a:rPr lang="zh-CN" altLang="en-US" sz="2400" b="1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三</a:t>
            </a:r>
            <a:r>
              <a:rPr lang="en-US" sz="2400" b="1" i="0" u="none" strike="noStrike" dirty="0" err="1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组同学接</a:t>
            </a:r>
            <a:r>
              <a:rPr lang="zh-CN" altLang="en-US" sz="24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龙答题</a:t>
            </a:r>
            <a:r>
              <a:rPr lang="en-US" sz="24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！🚂</a:t>
            </a:r>
            <a:endParaRPr lang="en-US" sz="1100" dirty="0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94F6FF41-911C-04F0-3E5B-AFCD3195D964}"/>
              </a:ext>
            </a:extLst>
          </p:cNvPr>
          <p:cNvSpPr/>
          <p:nvPr/>
        </p:nvSpPr>
        <p:spPr>
          <a:xfrm>
            <a:off x="635000" y="17018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DA8B0AD7-3498-08ED-B7B7-E489D89DA059}"/>
              </a:ext>
            </a:extLst>
          </p:cNvPr>
          <p:cNvSpPr/>
          <p:nvPr/>
        </p:nvSpPr>
        <p:spPr>
          <a:xfrm>
            <a:off x="1228969" y="21717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4">
            <a:extLst>
              <a:ext uri="{FF2B5EF4-FFF2-40B4-BE49-F238E27FC236}">
                <a16:creationId xmlns:a16="http://schemas.microsoft.com/office/drawing/2014/main" id="{01EA0B45-3487-A2A6-CE86-47B4DFD7496B}"/>
              </a:ext>
            </a:extLst>
          </p:cNvPr>
          <p:cNvSpPr/>
          <p:nvPr/>
        </p:nvSpPr>
        <p:spPr>
          <a:xfrm>
            <a:off x="1228969" y="2171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云朵遮住太阳</a:t>
            </a:r>
            <a:endParaRPr lang="en-US" sz="1200" dirty="0"/>
          </a:p>
        </p:txBody>
      </p:sp>
      <p:sp>
        <p:nvSpPr>
          <p:cNvPr id="19" name="AutoShape 13">
            <a:extLst>
              <a:ext uri="{FF2B5EF4-FFF2-40B4-BE49-F238E27FC236}">
                <a16:creationId xmlns:a16="http://schemas.microsoft.com/office/drawing/2014/main" id="{B8B53B17-A086-AABE-9E64-CA727C7F7498}"/>
              </a:ext>
            </a:extLst>
          </p:cNvPr>
          <p:cNvSpPr/>
          <p:nvPr/>
        </p:nvSpPr>
        <p:spPr>
          <a:xfrm>
            <a:off x="1203569" y="34099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3">
            <a:extLst>
              <a:ext uri="{FF2B5EF4-FFF2-40B4-BE49-F238E27FC236}">
                <a16:creationId xmlns:a16="http://schemas.microsoft.com/office/drawing/2014/main" id="{9AAD4E91-ABBB-1650-70A0-76B4FF32D8F6}"/>
              </a:ext>
            </a:extLst>
          </p:cNvPr>
          <p:cNvSpPr/>
          <p:nvPr/>
        </p:nvSpPr>
        <p:spPr>
          <a:xfrm>
            <a:off x="1228969" y="46482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1" name="AutoShape 14">
            <a:extLst>
              <a:ext uri="{FF2B5EF4-FFF2-40B4-BE49-F238E27FC236}">
                <a16:creationId xmlns:a16="http://schemas.microsoft.com/office/drawing/2014/main" id="{BEACEEB8-ADAC-18B0-2F94-E9DCC085796A}"/>
              </a:ext>
            </a:extLst>
          </p:cNvPr>
          <p:cNvSpPr/>
          <p:nvPr/>
        </p:nvSpPr>
        <p:spPr>
          <a:xfrm>
            <a:off x="1228969" y="34036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浪花拍打石头</a:t>
            </a:r>
            <a:endParaRPr lang="en-US" sz="1200" dirty="0"/>
          </a:p>
        </p:txBody>
      </p:sp>
      <p:sp>
        <p:nvSpPr>
          <p:cNvPr id="22" name="AutoShape 14">
            <a:extLst>
              <a:ext uri="{FF2B5EF4-FFF2-40B4-BE49-F238E27FC236}">
                <a16:creationId xmlns:a16="http://schemas.microsoft.com/office/drawing/2014/main" id="{04AF9453-8AC3-D570-63C9-3BD8DDEEE337}"/>
              </a:ext>
            </a:extLst>
          </p:cNvPr>
          <p:cNvSpPr/>
          <p:nvPr/>
        </p:nvSpPr>
        <p:spPr>
          <a:xfrm>
            <a:off x="1254369" y="46355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小朋友捡起落叶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091478-7C09-9B97-24CF-437D4712D27F}"/>
              </a:ext>
            </a:extLst>
          </p:cNvPr>
          <p:cNvSpPr/>
          <p:nvPr/>
        </p:nvSpPr>
        <p:spPr>
          <a:xfrm>
            <a:off x="4457700" y="23749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A16003A-C814-F4DC-9DCE-0EFFB75C892B}"/>
              </a:ext>
            </a:extLst>
          </p:cNvPr>
          <p:cNvSpPr/>
          <p:nvPr/>
        </p:nvSpPr>
        <p:spPr>
          <a:xfrm>
            <a:off x="5435600" y="2387600"/>
            <a:ext cx="1270000" cy="717550"/>
          </a:xfrm>
          <a:prstGeom prst="ellipse">
            <a:avLst/>
          </a:prstGeom>
          <a:noFill/>
          <a:ln w="76200">
            <a:solidFill>
              <a:srgbClr val="548235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CB271D-7101-ECB3-66BE-953F85EEF933}"/>
              </a:ext>
            </a:extLst>
          </p:cNvPr>
          <p:cNvSpPr/>
          <p:nvPr/>
        </p:nvSpPr>
        <p:spPr>
          <a:xfrm>
            <a:off x="6477000" y="2374900"/>
            <a:ext cx="1206500" cy="717550"/>
          </a:xfrm>
          <a:prstGeom prst="ellipse">
            <a:avLst/>
          </a:prstGeom>
          <a:noFill/>
          <a:ln w="76200">
            <a:solidFill>
              <a:srgbClr val="BF9000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DD3D939-4EB2-781D-0337-B95ACB18C87E}"/>
              </a:ext>
            </a:extLst>
          </p:cNvPr>
          <p:cNvSpPr/>
          <p:nvPr/>
        </p:nvSpPr>
        <p:spPr>
          <a:xfrm>
            <a:off x="4406900" y="3594100"/>
            <a:ext cx="1231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C79EA7B-D906-59A5-D478-7D6829877A5E}"/>
              </a:ext>
            </a:extLst>
          </p:cNvPr>
          <p:cNvSpPr/>
          <p:nvPr/>
        </p:nvSpPr>
        <p:spPr>
          <a:xfrm>
            <a:off x="5422900" y="3594100"/>
            <a:ext cx="1270000" cy="717550"/>
          </a:xfrm>
          <a:prstGeom prst="ellipse">
            <a:avLst/>
          </a:prstGeom>
          <a:noFill/>
          <a:ln w="76200">
            <a:solidFill>
              <a:srgbClr val="548235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8E478E-AADF-DD8F-088B-8D5B993E330C}"/>
              </a:ext>
            </a:extLst>
          </p:cNvPr>
          <p:cNvSpPr/>
          <p:nvPr/>
        </p:nvSpPr>
        <p:spPr>
          <a:xfrm>
            <a:off x="6489700" y="3594100"/>
            <a:ext cx="1206500" cy="717550"/>
          </a:xfrm>
          <a:prstGeom prst="ellipse">
            <a:avLst/>
          </a:prstGeom>
          <a:noFill/>
          <a:ln w="76200">
            <a:solidFill>
              <a:srgbClr val="BF9000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E5A7573-198C-38D4-C73A-1BCDA99A4B71}"/>
              </a:ext>
            </a:extLst>
          </p:cNvPr>
          <p:cNvSpPr/>
          <p:nvPr/>
        </p:nvSpPr>
        <p:spPr>
          <a:xfrm>
            <a:off x="4152900" y="4813300"/>
            <a:ext cx="1739900" cy="717550"/>
          </a:xfrm>
          <a:prstGeom prst="ellipse">
            <a:avLst/>
          </a:prstGeom>
          <a:noFill/>
          <a:ln w="762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A196A1A-E12C-97EA-B8FE-BA8AE1766CB1}"/>
              </a:ext>
            </a:extLst>
          </p:cNvPr>
          <p:cNvSpPr/>
          <p:nvPr/>
        </p:nvSpPr>
        <p:spPr>
          <a:xfrm>
            <a:off x="5664200" y="4813300"/>
            <a:ext cx="1270000" cy="717550"/>
          </a:xfrm>
          <a:prstGeom prst="ellipse">
            <a:avLst/>
          </a:prstGeom>
          <a:noFill/>
          <a:ln w="76200">
            <a:solidFill>
              <a:srgbClr val="548235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49CCA77-8799-CCED-46C8-3161641B0FDD}"/>
              </a:ext>
            </a:extLst>
          </p:cNvPr>
          <p:cNvSpPr/>
          <p:nvPr/>
        </p:nvSpPr>
        <p:spPr>
          <a:xfrm>
            <a:off x="6705600" y="4826000"/>
            <a:ext cx="1206500" cy="717550"/>
          </a:xfrm>
          <a:prstGeom prst="ellipse">
            <a:avLst/>
          </a:prstGeom>
          <a:noFill/>
          <a:ln w="76200">
            <a:solidFill>
              <a:srgbClr val="BF9000">
                <a:alpha val="7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50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随机提问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20B2A2D2-B002-CFEE-4D65-884B10AB983B}"/>
              </a:ext>
            </a:extLst>
          </p:cNvPr>
          <p:cNvSpPr/>
          <p:nvPr/>
        </p:nvSpPr>
        <p:spPr>
          <a:xfrm>
            <a:off x="635000" y="17018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BAA62C7-514B-1A34-A0BE-6E3C6A826EC0}"/>
              </a:ext>
            </a:extLst>
          </p:cNvPr>
          <p:cNvSpPr/>
          <p:nvPr/>
        </p:nvSpPr>
        <p:spPr>
          <a:xfrm>
            <a:off x="1228969" y="213808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6AEAD731-9CFB-ABBC-7405-F594EE8EF626}"/>
              </a:ext>
            </a:extLst>
          </p:cNvPr>
          <p:cNvSpPr/>
          <p:nvPr/>
        </p:nvSpPr>
        <p:spPr>
          <a:xfrm>
            <a:off x="1228969" y="2171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阿姨看电影</a:t>
            </a:r>
            <a:endParaRPr lang="en-US" sz="1200" dirty="0"/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50F265FD-20F9-B425-A1FF-C243C8847311}"/>
              </a:ext>
            </a:extLst>
          </p:cNvPr>
          <p:cNvSpPr/>
          <p:nvPr/>
        </p:nvSpPr>
        <p:spPr>
          <a:xfrm>
            <a:off x="1203569" y="34099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AEFE9414-D327-A3CB-1D86-0E5395F9312D}"/>
              </a:ext>
            </a:extLst>
          </p:cNvPr>
          <p:cNvSpPr/>
          <p:nvPr/>
        </p:nvSpPr>
        <p:spPr>
          <a:xfrm>
            <a:off x="1228969" y="46482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355A4F83-6157-C9DA-B512-5C37F2336626}"/>
              </a:ext>
            </a:extLst>
          </p:cNvPr>
          <p:cNvSpPr/>
          <p:nvPr/>
        </p:nvSpPr>
        <p:spPr>
          <a:xfrm>
            <a:off x="1228969" y="34036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浪花拍打石头</a:t>
            </a:r>
            <a:endParaRPr lang="en-US" sz="1200" dirty="0"/>
          </a:p>
        </p:txBody>
      </p:sp>
      <p:sp>
        <p:nvSpPr>
          <p:cNvPr id="18" name="AutoShape 14">
            <a:extLst>
              <a:ext uri="{FF2B5EF4-FFF2-40B4-BE49-F238E27FC236}">
                <a16:creationId xmlns:a16="http://schemas.microsoft.com/office/drawing/2014/main" id="{6FE4A1D6-555C-735C-47A5-E0F80E27E9B2}"/>
              </a:ext>
            </a:extLst>
          </p:cNvPr>
          <p:cNvSpPr/>
          <p:nvPr/>
        </p:nvSpPr>
        <p:spPr>
          <a:xfrm>
            <a:off x="1254369" y="46355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小朋友捡起落叶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加油！</a:t>
            </a:r>
            <a:endParaRPr lang="en-US"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446DDDB6-89E3-C02A-C50A-7384BBD6F81D}"/>
              </a:ext>
            </a:extLst>
          </p:cNvPr>
          <p:cNvSpPr/>
          <p:nvPr/>
        </p:nvSpPr>
        <p:spPr>
          <a:xfrm>
            <a:off x="635000" y="17018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14EC3AEE-6FA0-8BD8-A828-46CD5C41634D}"/>
              </a:ext>
            </a:extLst>
          </p:cNvPr>
          <p:cNvSpPr/>
          <p:nvPr/>
        </p:nvSpPr>
        <p:spPr>
          <a:xfrm>
            <a:off x="1228969" y="21717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763C5343-F4B4-A984-014B-F2FED72E4113}"/>
              </a:ext>
            </a:extLst>
          </p:cNvPr>
          <p:cNvSpPr/>
          <p:nvPr/>
        </p:nvSpPr>
        <p:spPr>
          <a:xfrm>
            <a:off x="1228969" y="2171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湖水倒映青山</a:t>
            </a:r>
            <a:endParaRPr lang="en-US" sz="1200" dirty="0"/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0C2FAD6A-C23C-8BBA-73A8-50201A29B53F}"/>
              </a:ext>
            </a:extLst>
          </p:cNvPr>
          <p:cNvSpPr/>
          <p:nvPr/>
        </p:nvSpPr>
        <p:spPr>
          <a:xfrm>
            <a:off x="1203569" y="34099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77CF6205-F553-EB11-FEDA-9BE6D209A038}"/>
              </a:ext>
            </a:extLst>
          </p:cNvPr>
          <p:cNvSpPr/>
          <p:nvPr/>
        </p:nvSpPr>
        <p:spPr>
          <a:xfrm>
            <a:off x="1228969" y="46482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6" name="AutoShape 14">
            <a:extLst>
              <a:ext uri="{FF2B5EF4-FFF2-40B4-BE49-F238E27FC236}">
                <a16:creationId xmlns:a16="http://schemas.microsoft.com/office/drawing/2014/main" id="{46226935-3D89-EC18-976A-4CC917F722DD}"/>
              </a:ext>
            </a:extLst>
          </p:cNvPr>
          <p:cNvSpPr/>
          <p:nvPr/>
        </p:nvSpPr>
        <p:spPr>
          <a:xfrm>
            <a:off x="1228969" y="34036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医生治疗病人</a:t>
            </a:r>
            <a:endParaRPr lang="en-US" sz="1200" dirty="0"/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92F1C1E9-4498-BE24-B8A6-601212881D88}"/>
              </a:ext>
            </a:extLst>
          </p:cNvPr>
          <p:cNvSpPr/>
          <p:nvPr/>
        </p:nvSpPr>
        <p:spPr>
          <a:xfrm>
            <a:off x="1254369" y="46355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雨伞遮住阳光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69604-86EF-D258-C1C7-E673DA25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89265B5-163F-A43F-74BF-6C47973CED5E}"/>
              </a:ext>
            </a:extLst>
          </p:cNvPr>
          <p:cNvSpPr/>
          <p:nvPr/>
        </p:nvSpPr>
        <p:spPr>
          <a:xfrm>
            <a:off x="762000" y="635000"/>
            <a:ext cx="2540000" cy="635000"/>
          </a:xfrm>
          <a:prstGeom prst="rect">
            <a:avLst/>
          </a:prstGeom>
          <a:solidFill>
            <a:srgbClr val="E8F5E9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再来</a:t>
            </a: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6E4A207E-B582-ACE5-0919-44F7BCF64B88}"/>
              </a:ext>
            </a:extLst>
          </p:cNvPr>
          <p:cNvSpPr/>
          <p:nvPr/>
        </p:nvSpPr>
        <p:spPr>
          <a:xfrm>
            <a:off x="635000" y="1701800"/>
            <a:ext cx="10795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4A083984-C9FE-B290-1C28-DDC62A91EF28}"/>
              </a:ext>
            </a:extLst>
          </p:cNvPr>
          <p:cNvSpPr/>
          <p:nvPr/>
        </p:nvSpPr>
        <p:spPr>
          <a:xfrm>
            <a:off x="1228969" y="21717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719E86D6-B055-8512-5164-45A42C0DC018}"/>
              </a:ext>
            </a:extLst>
          </p:cNvPr>
          <p:cNvSpPr/>
          <p:nvPr/>
        </p:nvSpPr>
        <p:spPr>
          <a:xfrm>
            <a:off x="1228969" y="21717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工人搬运箱子</a:t>
            </a:r>
            <a:endParaRPr lang="en-US" sz="1200" dirty="0"/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BEC18189-F9C7-EE23-A06C-53BA9664B8EB}"/>
              </a:ext>
            </a:extLst>
          </p:cNvPr>
          <p:cNvSpPr/>
          <p:nvPr/>
        </p:nvSpPr>
        <p:spPr>
          <a:xfrm>
            <a:off x="1203569" y="340995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848DC795-C65A-5004-4593-A3E8C4930BA6}"/>
              </a:ext>
            </a:extLst>
          </p:cNvPr>
          <p:cNvSpPr/>
          <p:nvPr/>
        </p:nvSpPr>
        <p:spPr>
          <a:xfrm>
            <a:off x="1228969" y="4648200"/>
            <a:ext cx="9657862" cy="1054100"/>
          </a:xfrm>
          <a:prstGeom prst="roundRect">
            <a:avLst>
              <a:gd name="adj" fmla="val 10909"/>
            </a:avLst>
          </a:prstGeom>
          <a:solidFill>
            <a:srgbClr val="E8EA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6" name="AutoShape 14">
            <a:extLst>
              <a:ext uri="{FF2B5EF4-FFF2-40B4-BE49-F238E27FC236}">
                <a16:creationId xmlns:a16="http://schemas.microsoft.com/office/drawing/2014/main" id="{7CD5A511-5889-4AF2-C85A-0D30AC05083A}"/>
              </a:ext>
            </a:extLst>
          </p:cNvPr>
          <p:cNvSpPr/>
          <p:nvPr/>
        </p:nvSpPr>
        <p:spPr>
          <a:xfrm>
            <a:off x="1228969" y="34036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  <a:sym typeface="Noto Sans SC"/>
              </a:rPr>
              <a:t>细雨落进田间</a:t>
            </a:r>
            <a:endParaRPr lang="en-US" sz="1200" dirty="0"/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08560C2E-B84B-80F8-51F0-3360B88ABDBC}"/>
              </a:ext>
            </a:extLst>
          </p:cNvPr>
          <p:cNvSpPr/>
          <p:nvPr/>
        </p:nvSpPr>
        <p:spPr>
          <a:xfrm>
            <a:off x="1254369" y="4635500"/>
            <a:ext cx="9632462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3F51B5"/>
                </a:solidFill>
                <a:latin typeface="Noto Sans SC"/>
                <a:ea typeface="Noto Sans SC"/>
              </a:rPr>
              <a:t>姐姐写日记</a:t>
            </a:r>
            <a:endParaRPr lang="en-US" sz="4000" b="1" dirty="0">
              <a:solidFill>
                <a:srgbClr val="3F51B5"/>
              </a:solidFill>
              <a:latin typeface="Noto Sans SC"/>
              <a:ea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58048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A9A139-8803-865C-077A-834676B10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3DF6609C-57D0-531A-56C7-B2B06618AB96}"/>
              </a:ext>
            </a:extLst>
          </p:cNvPr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课后作业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7D41181-EB40-3DEE-97A4-5F961D5664D3}"/>
              </a:ext>
            </a:extLst>
          </p:cNvPr>
          <p:cNvSpPr/>
          <p:nvPr/>
        </p:nvSpPr>
        <p:spPr>
          <a:xfrm>
            <a:off x="762000" y="3429000"/>
            <a:ext cx="10668000" cy="21590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CA655EA-55DD-12D5-B349-9343C6886548}"/>
              </a:ext>
            </a:extLst>
          </p:cNvPr>
          <p:cNvSpPr/>
          <p:nvPr/>
        </p:nvSpPr>
        <p:spPr>
          <a:xfrm>
            <a:off x="1016000" y="41783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600" b="1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请各位同学回家后完成，明天上课时交给老师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660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705</Words>
  <Application>Microsoft Office PowerPoint</Application>
  <PresentationFormat>Widescreen</PresentationFormat>
  <Paragraphs>157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Noto Sans SC</vt:lpstr>
      <vt:lpstr>Arial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cuhkboardgame@outlook.com</cp:lastModifiedBy>
  <cp:revision>6</cp:revision>
  <dcterms:modified xsi:type="dcterms:W3CDTF">2026-05-19T03:28:25Z</dcterms:modified>
</cp:coreProperties>
</file>